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1adfb8e-ecc4-424d-c83b-3c7796917ef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ONTENT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106070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pic>
        <p:nvPicPr>
          <p:cNvPr id="5" name="Image 0" descr="/home/claude/build/brand3/_Mark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402336"/>
            <a:ext cx="310896" cy="27203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SIYAJ  ·  Company profile  ·  UAE + KSA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SIYAJ  ·  Company profile  ·  UAE + KSA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YAJ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194560" cy="6774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463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UNDERWRITING FOR AI RISK · UAE + KSA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810512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can't price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can't measure.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SIYAJ measures how AI systems behave and turns the evidence into underwriting, building AI liability coverage with founding capacity partners.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7" name="Shape 4"/>
          <p:cNvSpPr/>
          <p:nvPr/>
        </p:nvSpPr>
        <p:spPr>
          <a:xfrm>
            <a:off x="1252535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8" name="Shape 5"/>
          <p:cNvSpPr/>
          <p:nvPr/>
        </p:nvSpPr>
        <p:spPr>
          <a:xfrm>
            <a:off x="1956429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9" name="Shape 6"/>
          <p:cNvSpPr/>
          <p:nvPr/>
        </p:nvSpPr>
        <p:spPr>
          <a:xfrm>
            <a:off x="2660324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10" name="Shape 7"/>
          <p:cNvSpPr/>
          <p:nvPr/>
        </p:nvSpPr>
        <p:spPr>
          <a:xfrm>
            <a:off x="3364218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11" name="Shape 8"/>
          <p:cNvSpPr/>
          <p:nvPr/>
        </p:nvSpPr>
        <p:spPr>
          <a:xfrm>
            <a:off x="4068113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12" name="Shape 9"/>
          <p:cNvSpPr/>
          <p:nvPr/>
        </p:nvSpPr>
        <p:spPr>
          <a:xfrm>
            <a:off x="4772007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13" name="Shape 10"/>
          <p:cNvSpPr/>
          <p:nvPr/>
        </p:nvSpPr>
        <p:spPr>
          <a:xfrm>
            <a:off x="5475902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14" name="Shape 11"/>
          <p:cNvSpPr/>
          <p:nvPr/>
        </p:nvSpPr>
        <p:spPr>
          <a:xfrm>
            <a:off x="6179797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15" name="Shape 12"/>
          <p:cNvSpPr/>
          <p:nvPr/>
        </p:nvSpPr>
        <p:spPr>
          <a:xfrm>
            <a:off x="6883691" y="5248656"/>
            <a:ext cx="533253" cy="740664"/>
          </a:xfrm>
          <a:prstGeom prst="rect">
            <a:avLst/>
          </a:prstGeom>
          <a:solidFill>
            <a:srgbClr val="FF927E"/>
          </a:solidFill>
          <a:ln/>
        </p:spPr>
      </p:sp>
      <p:sp>
        <p:nvSpPr>
          <p:cNvPr id="16" name="Shape 13"/>
          <p:cNvSpPr/>
          <p:nvPr/>
        </p:nvSpPr>
        <p:spPr>
          <a:xfrm>
            <a:off x="7587586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17" name="Shape 14"/>
          <p:cNvSpPr/>
          <p:nvPr/>
        </p:nvSpPr>
        <p:spPr>
          <a:xfrm>
            <a:off x="8291480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18" name="Shape 15"/>
          <p:cNvSpPr/>
          <p:nvPr/>
        </p:nvSpPr>
        <p:spPr>
          <a:xfrm>
            <a:off x="8995375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19" name="Shape 16"/>
          <p:cNvSpPr/>
          <p:nvPr/>
        </p:nvSpPr>
        <p:spPr>
          <a:xfrm>
            <a:off x="9699269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0" name="Shape 17"/>
          <p:cNvSpPr/>
          <p:nvPr/>
        </p:nvSpPr>
        <p:spPr>
          <a:xfrm>
            <a:off x="10403164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1" name="Shape 18"/>
          <p:cNvSpPr/>
          <p:nvPr/>
        </p:nvSpPr>
        <p:spPr>
          <a:xfrm>
            <a:off x="11107059" y="4754880"/>
            <a:ext cx="533253" cy="123444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2" name="Shape 19"/>
          <p:cNvSpPr/>
          <p:nvPr/>
        </p:nvSpPr>
        <p:spPr>
          <a:xfrm>
            <a:off x="4677543" y="4645152"/>
            <a:ext cx="18288" cy="1453896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23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4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COVERAGE GAP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moving into production. </a:t>
            </a:r>
            <a:pPr algn="l" indent="0" marL="0">
              <a:buNone/>
            </a:pPr>
            <a:r>
              <a:rPr lang="en-US" sz="30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is moving out.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companies deploying AI carry new liabilities. Their policies were written before agents could act.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547872" cy="2743200"/>
          </a:xfrm>
          <a:prstGeom prst="roundRect">
            <a:avLst>
              <a:gd name="adj" fmla="val 3333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9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EXCLUSIONS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Carriers are writing AI out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576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AIG, W. R. Berkley and Great American have sought permission to exclude AI-related claims from standard corporate liability policies.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5112" y="2240280"/>
            <a:ext cx="3547872" cy="2743200"/>
          </a:xfrm>
          <a:prstGeom prst="roundRect">
            <a:avLst>
              <a:gd name="adj" fmla="val 3333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9432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9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DEMAND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Specialists show it can be written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36576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Armilla writes up to USD 25m per organisation as a Lloyd's coverholder. Testudo, AIUC and Munich Re aiSure are also writing AI risk.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01584" y="2240280"/>
            <a:ext cx="3547872" cy="2743200"/>
          </a:xfrm>
          <a:prstGeom prst="roundRect">
            <a:avLst>
              <a:gd name="adj" fmla="val 3333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75904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OPENING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it is built for the Gulf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375904" y="36576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specialists sit in London and North America. Gulf AI deployers still rely on generic wordings that are silent on AI.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TWO SIDES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evidence base, </a:t>
            </a:r>
            <a:pPr algn="l" indent="0" marL="0">
              <a:buNone/>
            </a:pPr>
            <a:r>
              <a:rPr lang="en-US" sz="30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markets served.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technical evidence answers both questions: is this AI safe to deploy, and safe to insure?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22392" cy="3886200"/>
          </a:xfrm>
          <a:prstGeom prst="roundRect">
            <a:avLst>
              <a:gd name="adj" fmla="val 2353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4414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AI COMPANIES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how your AI behaves into something an insurer will stand behind.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68680" y="3767328"/>
            <a:ext cx="64008" cy="274320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721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Unstick enterprise deals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9959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liability and AI-security questions with tested evidence.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4517136"/>
            <a:ext cx="64008" cy="274320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44714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into regulated sectors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74573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an answer when banks, insurers and government ask who carries the risk.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5266944"/>
            <a:ext cx="64008" cy="274320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52212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in line for cover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549554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assessment now; cover through licensed partners as the programme opens.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148840"/>
            <a:ext cx="5422392" cy="3886200"/>
          </a:xfrm>
          <a:prstGeom prst="roundRect">
            <a:avLst>
              <a:gd name="adj" fmla="val 2353"/>
            </a:avLst>
          </a:prstGeom>
          <a:solidFill>
            <a:srgbClr val="0B1A20"/>
          </a:solidFill>
          <a:ln w="9525">
            <a:solidFill>
              <a:srgbClr val="4A443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24414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CARRIERS AND CAPACITY PROVIDERS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27432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line, assessed by people who test the systems themselves.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537960" y="3767328"/>
            <a:ext cx="64008" cy="274320"/>
          </a:xfrm>
          <a:prstGeom prst="rect">
            <a:avLst/>
          </a:prstGeom>
          <a:solidFill>
            <a:srgbClr val="F2D4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66560" y="3721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Submissions that arrive tested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9959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risk scored, tiered and explained, with probe evidence behind each number.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4517136"/>
            <a:ext cx="64008" cy="274320"/>
          </a:xfrm>
          <a:prstGeom prst="rect">
            <a:avLst/>
          </a:prstGeom>
          <a:solidFill>
            <a:srgbClr val="F2D49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66560" y="44714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appetite you co-design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474573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partners set limits, controls, exclusions and thresholds.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5266944"/>
            <a:ext cx="64008" cy="274320"/>
          </a:xfrm>
          <a:prstGeom prst="rect">
            <a:avLst/>
          </a:prstGeom>
          <a:solidFill>
            <a:srgbClr val="F2D4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66560" y="52212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discipline from day one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549554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Model-provider concentration, retesting and a full evidence trail.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HOW IT WORKS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AI system </a:t>
            </a:r>
            <a:pPr algn="l" indent="0" marL="0">
              <a:buNone/>
            </a:pPr>
            <a:r>
              <a:rPr lang="en-US" sz="30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covered risk.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Questionnaires tell an underwriter what a company believes. Tests show what its AI actually does.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25671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688336"/>
            <a:ext cx="145862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7" name="Shape 5"/>
          <p:cNvSpPr/>
          <p:nvPr/>
        </p:nvSpPr>
        <p:spPr>
          <a:xfrm>
            <a:off x="796606" y="2688336"/>
            <a:ext cx="145862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8" name="Shape 6"/>
          <p:cNvSpPr/>
          <p:nvPr/>
        </p:nvSpPr>
        <p:spPr>
          <a:xfrm>
            <a:off x="1044572" y="2688336"/>
            <a:ext cx="145862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035808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20440"/>
            <a:ext cx="24757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case, autonomy, data, model provider, limit sought and controls in place.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90138" y="2377440"/>
            <a:ext cx="25671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90138" y="2688336"/>
            <a:ext cx="135115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13" name="Shape 11"/>
          <p:cNvSpPr/>
          <p:nvPr/>
        </p:nvSpPr>
        <p:spPr>
          <a:xfrm>
            <a:off x="3619833" y="2688336"/>
            <a:ext cx="135115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14" name="Shape 12"/>
          <p:cNvSpPr/>
          <p:nvPr/>
        </p:nvSpPr>
        <p:spPr>
          <a:xfrm>
            <a:off x="3849528" y="2688336"/>
            <a:ext cx="135115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15" name="Shape 13"/>
          <p:cNvSpPr/>
          <p:nvPr/>
        </p:nvSpPr>
        <p:spPr>
          <a:xfrm>
            <a:off x="4079223" y="2688336"/>
            <a:ext cx="135115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16" name="Shape 14"/>
          <p:cNvSpPr/>
          <p:nvPr/>
        </p:nvSpPr>
        <p:spPr>
          <a:xfrm>
            <a:off x="4308917" y="2688336"/>
            <a:ext cx="135115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17" name="Shape 15"/>
          <p:cNvSpPr/>
          <p:nvPr/>
        </p:nvSpPr>
        <p:spPr>
          <a:xfrm>
            <a:off x="4538612" y="2688336"/>
            <a:ext cx="135115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390138" y="3035808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3390138" y="3520440"/>
            <a:ext cx="24757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probes on the staging agent with synthetic Gulf data.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31636" y="2377440"/>
            <a:ext cx="25671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31636" y="2688336"/>
            <a:ext cx="131876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22" name="Shape 20"/>
          <p:cNvSpPr/>
          <p:nvPr/>
        </p:nvSpPr>
        <p:spPr>
          <a:xfrm>
            <a:off x="6455824" y="2688336"/>
            <a:ext cx="131876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23" name="Shape 21"/>
          <p:cNvSpPr/>
          <p:nvPr/>
        </p:nvSpPr>
        <p:spPr>
          <a:xfrm>
            <a:off x="6680013" y="2688336"/>
            <a:ext cx="131876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24" name="Shape 22"/>
          <p:cNvSpPr/>
          <p:nvPr/>
        </p:nvSpPr>
        <p:spPr>
          <a:xfrm>
            <a:off x="6904201" y="2688336"/>
            <a:ext cx="131876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25" name="Shape 23"/>
          <p:cNvSpPr/>
          <p:nvPr/>
        </p:nvSpPr>
        <p:spPr>
          <a:xfrm>
            <a:off x="7128390" y="2688336"/>
            <a:ext cx="131876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26" name="Shape 24"/>
          <p:cNvSpPr/>
          <p:nvPr/>
        </p:nvSpPr>
        <p:spPr>
          <a:xfrm>
            <a:off x="7352578" y="2688336"/>
            <a:ext cx="131876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27" name="Shape 25"/>
          <p:cNvSpPr/>
          <p:nvPr/>
        </p:nvSpPr>
        <p:spPr>
          <a:xfrm>
            <a:off x="7576767" y="2688336"/>
            <a:ext cx="131876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28" name="Shape 26"/>
          <p:cNvSpPr/>
          <p:nvPr/>
        </p:nvSpPr>
        <p:spPr>
          <a:xfrm>
            <a:off x="7800955" y="2688336"/>
            <a:ext cx="131876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29" name="Shape 27"/>
          <p:cNvSpPr/>
          <p:nvPr/>
        </p:nvSpPr>
        <p:spPr>
          <a:xfrm>
            <a:off x="8025144" y="2688336"/>
            <a:ext cx="131876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31636" y="3035808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Underwrite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6231636" y="3520440"/>
            <a:ext cx="24757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score, tier and box decision with reasons and conditions.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073134" y="2377440"/>
            <a:ext cx="25671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73134" y="2688336"/>
            <a:ext cx="130314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34" name="Shape 32"/>
          <p:cNvSpPr/>
          <p:nvPr/>
        </p:nvSpPr>
        <p:spPr>
          <a:xfrm>
            <a:off x="9294667" y="2688336"/>
            <a:ext cx="130314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35" name="Shape 33"/>
          <p:cNvSpPr/>
          <p:nvPr/>
        </p:nvSpPr>
        <p:spPr>
          <a:xfrm>
            <a:off x="9516200" y="2688336"/>
            <a:ext cx="130314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36" name="Shape 34"/>
          <p:cNvSpPr/>
          <p:nvPr/>
        </p:nvSpPr>
        <p:spPr>
          <a:xfrm>
            <a:off x="9737733" y="2688336"/>
            <a:ext cx="130314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37" name="Shape 35"/>
          <p:cNvSpPr/>
          <p:nvPr/>
        </p:nvSpPr>
        <p:spPr>
          <a:xfrm>
            <a:off x="9959267" y="2688336"/>
            <a:ext cx="130314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80800" y="2688336"/>
            <a:ext cx="130314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39" name="Shape 37"/>
          <p:cNvSpPr/>
          <p:nvPr/>
        </p:nvSpPr>
        <p:spPr>
          <a:xfrm>
            <a:off x="10402333" y="2688336"/>
            <a:ext cx="130314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40" name="Shape 38"/>
          <p:cNvSpPr/>
          <p:nvPr/>
        </p:nvSpPr>
        <p:spPr>
          <a:xfrm>
            <a:off x="10623866" y="2688336"/>
            <a:ext cx="130314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41" name="Shape 39"/>
          <p:cNvSpPr/>
          <p:nvPr/>
        </p:nvSpPr>
        <p:spPr>
          <a:xfrm>
            <a:off x="10845399" y="2688336"/>
            <a:ext cx="130314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42" name="Shape 40"/>
          <p:cNvSpPr/>
          <p:nvPr/>
        </p:nvSpPr>
        <p:spPr>
          <a:xfrm>
            <a:off x="11066932" y="2688336"/>
            <a:ext cx="130314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43" name="Shape 41"/>
          <p:cNvSpPr/>
          <p:nvPr/>
        </p:nvSpPr>
        <p:spPr>
          <a:xfrm>
            <a:off x="11288465" y="2688336"/>
            <a:ext cx="130314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44" name="Shape 42"/>
          <p:cNvSpPr/>
          <p:nvPr/>
        </p:nvSpPr>
        <p:spPr>
          <a:xfrm>
            <a:off x="11509998" y="2688336"/>
            <a:ext cx="130314" cy="2560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073134" y="3035808"/>
            <a:ext cx="2567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and monitor</a:t>
            </a:r>
            <a:endParaRPr lang="en-US" sz="2000" dirty="0"/>
          </a:p>
        </p:txBody>
      </p:sp>
      <p:sp>
        <p:nvSpPr>
          <p:cNvPr id="46" name="Text 44"/>
          <p:cNvSpPr txBox="1"/>
          <p:nvPr/>
        </p:nvSpPr>
        <p:spPr>
          <a:xfrm>
            <a:off x="9073134" y="3520440"/>
            <a:ext cx="24757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licensed carrier issues the policy; we retest after material change.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48640" y="502920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0B1A20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8680" y="523036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49" name="Shape 47"/>
          <p:cNvSpPr/>
          <p:nvPr/>
        </p:nvSpPr>
        <p:spPr>
          <a:xfrm>
            <a:off x="1117904" y="523036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50" name="Shape 48"/>
          <p:cNvSpPr/>
          <p:nvPr/>
        </p:nvSpPr>
        <p:spPr>
          <a:xfrm>
            <a:off x="1367129" y="523036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51" name="Shape 49"/>
          <p:cNvSpPr/>
          <p:nvPr/>
        </p:nvSpPr>
        <p:spPr>
          <a:xfrm>
            <a:off x="1616353" y="523036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52" name="Shape 50"/>
          <p:cNvSpPr/>
          <p:nvPr/>
        </p:nvSpPr>
        <p:spPr>
          <a:xfrm>
            <a:off x="1865578" y="5471770"/>
            <a:ext cx="184611" cy="362102"/>
          </a:xfrm>
          <a:prstGeom prst="rect">
            <a:avLst/>
          </a:prstGeom>
          <a:solidFill>
            <a:srgbClr val="FF927E"/>
          </a:solidFill>
          <a:ln/>
        </p:spPr>
      </p:sp>
      <p:sp>
        <p:nvSpPr>
          <p:cNvPr id="53" name="Shape 51"/>
          <p:cNvSpPr/>
          <p:nvPr/>
        </p:nvSpPr>
        <p:spPr>
          <a:xfrm>
            <a:off x="2114802" y="523036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54" name="Shape 52"/>
          <p:cNvSpPr/>
          <p:nvPr/>
        </p:nvSpPr>
        <p:spPr>
          <a:xfrm>
            <a:off x="2364027" y="523036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55" name="Shape 53"/>
          <p:cNvSpPr/>
          <p:nvPr/>
        </p:nvSpPr>
        <p:spPr>
          <a:xfrm>
            <a:off x="2613251" y="523036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56" name="Shape 54"/>
          <p:cNvSpPr/>
          <p:nvPr/>
        </p:nvSpPr>
        <p:spPr>
          <a:xfrm>
            <a:off x="2862476" y="5471770"/>
            <a:ext cx="184611" cy="362102"/>
          </a:xfrm>
          <a:prstGeom prst="rect">
            <a:avLst/>
          </a:prstGeom>
          <a:solidFill>
            <a:srgbClr val="FF927E"/>
          </a:solidFill>
          <a:ln/>
        </p:spPr>
      </p:sp>
      <p:sp>
        <p:nvSpPr>
          <p:cNvPr id="57" name="Shape 55"/>
          <p:cNvSpPr/>
          <p:nvPr/>
        </p:nvSpPr>
        <p:spPr>
          <a:xfrm>
            <a:off x="3111700" y="523036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58" name="Shape 56"/>
          <p:cNvSpPr/>
          <p:nvPr/>
        </p:nvSpPr>
        <p:spPr>
          <a:xfrm>
            <a:off x="3360925" y="5230368"/>
            <a:ext cx="184611" cy="603504"/>
          </a:xfrm>
          <a:prstGeom prst="rect">
            <a:avLst/>
          </a:prstGeom>
          <a:solidFill>
            <a:srgbClr val="26241C"/>
          </a:solidFill>
          <a:ln w="15875">
            <a:solidFill>
              <a:srgbClr val="F2D49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610149" y="5230368"/>
            <a:ext cx="184611" cy="603504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206240" y="5138928"/>
            <a:ext cx="7132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licensed carrier always issues the policy. SIYAJ provides the evaluation and, once licensed, underwrites within delegated authority.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THE EVIDENCE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</a:t>
            </a:r>
            <a:pPr algn="l" indent="0" marL="0">
              <a:buNone/>
            </a:pPr>
            <a:r>
              <a:rPr lang="en-US" sz="30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 to a test.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Shown with a deliberately vulnerable demo agent and fictional records.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12064" y="2112264"/>
            <a:ext cx="6473952" cy="4073652"/>
          </a:xfrm>
          <a:prstGeom prst="roundRect">
            <a:avLst>
              <a:gd name="adj" fmla="val 1347"/>
            </a:avLst>
          </a:prstGeom>
          <a:solidFill>
            <a:srgbClr val="244149"/>
          </a:solidFill>
          <a:ln/>
        </p:spPr>
      </p:sp>
      <p:pic>
        <p:nvPicPr>
          <p:cNvPr id="6" name="Image 0" descr="SIYAJ product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48840"/>
            <a:ext cx="6400800" cy="40005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0" y="21488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 index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249631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Severity-weighted share of failed attack probes.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0" y="31546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9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fence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350215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picket per probe: held, finding or review.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0" y="4160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evidence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450799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Request, reply, tool attempts and verdict for every case.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5166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review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0" y="551383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confirmed or rejected before reporting.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UNDERWRITING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evidence </a:t>
            </a:r>
            <a:pPr algn="l" indent="0" marL="0">
              <a:buNone/>
            </a:pPr>
            <a:r>
              <a:rPr lang="en-US" sz="30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an underwriting decision.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workbench scores each submission against the capacity partner's box and explains every outcome.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901184" y="2112264"/>
            <a:ext cx="6748272" cy="4245102"/>
          </a:xfrm>
          <a:prstGeom prst="roundRect">
            <a:avLst>
              <a:gd name="adj" fmla="val 1292"/>
            </a:avLst>
          </a:prstGeom>
          <a:solidFill>
            <a:srgbClr val="244149"/>
          </a:solidFill>
          <a:ln/>
        </p:spPr>
      </p:sp>
      <p:pic>
        <p:nvPicPr>
          <p:cNvPr id="6" name="Image 0" descr="SIYAJ product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148840"/>
            <a:ext cx="6675120" cy="41719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score and tier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49631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weighted factors, from observed exposure to autonomy.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154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box rules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50215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Accept, refer, decline or needs evidence, each with its reason.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to clear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50799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change before a risk can be referred or bound.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166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9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view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51383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by model provider against the partner's cap.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COVERAGE IN DESIGN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cover we are designing </a:t>
            </a:r>
            <a:pPr algn="l" indent="0" marL="0">
              <a:buNone/>
            </a:pPr>
            <a:r>
              <a:rPr lang="en-US" sz="30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our partners.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Wording, limits and pricing will be set by the licensed carriers who write it. Not yet available.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01468" cy="3566160"/>
          </a:xfrm>
          <a:prstGeom prst="roundRect">
            <a:avLst>
              <a:gd name="adj" fmla="val 3515"/>
            </a:avLst>
          </a:prstGeom>
          <a:solidFill>
            <a:srgbClr val="10232B"/>
          </a:solidFill>
          <a:ln w="9525">
            <a:solidFill>
              <a:srgbClr val="5A4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6888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B1A20"/>
          </a:solidFill>
          <a:ln w="9525">
            <a:solidFill>
              <a:srgbClr val="24414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077" y="2582997"/>
            <a:ext cx="247254" cy="2472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154680"/>
            <a:ext cx="20528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DESIGN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47288"/>
            <a:ext cx="20528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errors and hallucinations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416552"/>
            <a:ext cx="20528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loss to customers from incorrect AI output relied on in business.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78708" y="2194560"/>
            <a:ext cx="2601468" cy="3566160"/>
          </a:xfrm>
          <a:prstGeom prst="roundRect">
            <a:avLst>
              <a:gd name="adj" fmla="val 3515"/>
            </a:avLst>
          </a:prstGeom>
          <a:solidFill>
            <a:srgbClr val="10232B"/>
          </a:solidFill>
          <a:ln w="9525">
            <a:solidFill>
              <a:srgbClr val="5A4A2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3028" y="246888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B1A20"/>
          </a:solidFill>
          <a:ln w="9525">
            <a:solidFill>
              <a:srgbClr val="24414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145" y="2582997"/>
            <a:ext cx="247254" cy="24725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53028" y="3154680"/>
            <a:ext cx="20528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DESIGN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3653028" y="3447288"/>
            <a:ext cx="20528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actions beyond authority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653028" y="4416552"/>
            <a:ext cx="20528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Transactions, record changes or messages outside the approved scope.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208776" y="2194560"/>
            <a:ext cx="2601468" cy="3566160"/>
          </a:xfrm>
          <a:prstGeom prst="roundRect">
            <a:avLst>
              <a:gd name="adj" fmla="val 3515"/>
            </a:avLst>
          </a:prstGeom>
          <a:solidFill>
            <a:srgbClr val="10232B"/>
          </a:solidFill>
          <a:ln w="9525">
            <a:solidFill>
              <a:srgbClr val="5A4A2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83096" y="246888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B1A20"/>
          </a:solidFill>
          <a:ln w="9525">
            <a:solidFill>
              <a:srgbClr val="24414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213" y="2582997"/>
            <a:ext cx="247254" cy="24725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83096" y="3154680"/>
            <a:ext cx="20528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DESIGN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6483096" y="3447288"/>
            <a:ext cx="20528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data exposure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483096" y="4416552"/>
            <a:ext cx="20528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 through retrieval, prompts or agent tools.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9038844" y="2194560"/>
            <a:ext cx="2601468" cy="3566160"/>
          </a:xfrm>
          <a:prstGeom prst="roundRect">
            <a:avLst>
              <a:gd name="adj" fmla="val 3515"/>
            </a:avLst>
          </a:prstGeom>
          <a:solidFill>
            <a:srgbClr val="10232B"/>
          </a:solidFill>
          <a:ln w="9525">
            <a:solidFill>
              <a:srgbClr val="5A4A2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313164" y="246888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B1A20"/>
          </a:solidFill>
          <a:ln w="9525">
            <a:solidFill>
              <a:srgbClr val="244149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281" y="2582997"/>
            <a:ext cx="247254" cy="24725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313164" y="3154680"/>
            <a:ext cx="20528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DESIGN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313164" y="3447288"/>
            <a:ext cx="20528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defence for AI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9313164" y="4416552"/>
            <a:ext cx="20528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and defence costs for investigations into AI use.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BUILT FOR GULF PAPER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licensed route, </a:t>
            </a:r>
            <a:pPr algn="l" indent="0" marL="0">
              <a:buNone/>
            </a:pPr>
            <a:r>
              <a:rPr lang="en-US" sz="30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by market.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planned path follows how the Gulf insurance market is regulated.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47872" cy="2743200"/>
          </a:xfrm>
          <a:prstGeom prst="roundRect">
            <a:avLst>
              <a:gd name="adj" fmla="val 3333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4688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614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DIFC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9300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agents and coverholders are licensed by the DFSA for Insurance Management. 40+ MGAs already operate there, with Lloyd's access.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2194560"/>
            <a:ext cx="3547872" cy="2743200"/>
          </a:xfrm>
          <a:prstGeom prst="roundRect">
            <a:avLst>
              <a:gd name="adj" fmla="val 3333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9432" y="24688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 ONSHORE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7614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Fronting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349300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onshore MGA regime. Onshore risks are written by a locally licensed insurer, with international capacity behind it as reinsurance.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01584" y="2194560"/>
            <a:ext cx="3547872" cy="2743200"/>
          </a:xfrm>
          <a:prstGeom prst="roundRect">
            <a:avLst>
              <a:gd name="adj" fmla="val 3333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75904" y="24688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SAUDI ARABIA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375904" y="27614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KSA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375904" y="349300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Insurance Authority approved licensing requirements for underwriting activities in March 2026: local office, PI cover, business plan.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routes are planned. SIYAJ is not yet licensed in any market.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WHERE WE ARE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about status. </a:t>
            </a:r>
            <a:pPr algn="l" indent="0" marL="0">
              <a:buNone/>
            </a:pPr>
            <a:r>
              <a:rPr lang="en-US" sz="30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about direction.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5361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earn each stage before claiming the next.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47872" cy="2743200"/>
          </a:xfrm>
          <a:prstGeom prst="roundRect">
            <a:avLst>
              <a:gd name="adj" fmla="val 3333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NOW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underwriting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assessments, technical submission packs, the underwriting workbench.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5112" y="2194560"/>
            <a:ext cx="3547872" cy="2743200"/>
          </a:xfrm>
          <a:prstGeom prst="roundRect">
            <a:avLst>
              <a:gd name="adj" fmla="val 3333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9432" y="24231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CONVERSATION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3017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on partner paper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3794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policies by licensed carriers, underwritten to a co-designed box.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01584" y="2194560"/>
            <a:ext cx="3547872" cy="2743200"/>
          </a:xfrm>
          <a:prstGeom prst="roundRect">
            <a:avLst>
              <a:gd name="adj" fmla="val 3333"/>
            </a:avLst>
          </a:prstGeom>
          <a:solidFill>
            <a:srgbClr val="10232B"/>
          </a:solidFill>
          <a:ln w="9525">
            <a:solidFill>
              <a:srgbClr val="24414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75904" y="24231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8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3017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Licensed underwriting agent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75904" y="3794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Delegated authority in DIFC and, later, Saudi Arabia.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2A1C1B"/>
          </a:solidFill>
          <a:ln w="9525">
            <a:solidFill>
              <a:srgbClr val="5A35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52578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SIYAJ does not quote, bind, sell or advise on insurance today. Policies will be issued by licensed carriers.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NEXT STEP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 which side </a:t>
            </a:r>
            <a:pPr algn="l" indent="0" marL="0">
              <a:buNone/>
            </a:pPr>
            <a:r>
              <a:rPr lang="en-US" sz="3000" b="1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market you are 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47872" cy="274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COMPANIES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20-minute call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system, your stalled deals and what a bad day looks like.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5112" y="2103120"/>
            <a:ext cx="3547872" cy="27432"/>
          </a:xfrm>
          <a:prstGeom prst="rect">
            <a:avLst/>
          </a:prstGeom>
          <a:solidFill>
            <a:srgbClr val="F2D4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25112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2D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PROVIDERS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325112" y="2651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appetite session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325112" y="3246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Lines, limits and the evidence you would want per risk.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01584" y="2103120"/>
            <a:ext cx="3547872" cy="27432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01584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6E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101584" y="2651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A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placement fit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101584" y="3246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BB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SIYAJ submissions support your AI clients.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17" name="Shape 15"/>
          <p:cNvSpPr/>
          <p:nvPr/>
        </p:nvSpPr>
        <p:spPr>
          <a:xfrm>
            <a:off x="1252535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18" name="Shape 16"/>
          <p:cNvSpPr/>
          <p:nvPr/>
        </p:nvSpPr>
        <p:spPr>
          <a:xfrm>
            <a:off x="1956429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19" name="Shape 17"/>
          <p:cNvSpPr/>
          <p:nvPr/>
        </p:nvSpPr>
        <p:spPr>
          <a:xfrm>
            <a:off x="2660324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0" name="Shape 18"/>
          <p:cNvSpPr/>
          <p:nvPr/>
        </p:nvSpPr>
        <p:spPr>
          <a:xfrm>
            <a:off x="3364218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1" name="Shape 19"/>
          <p:cNvSpPr/>
          <p:nvPr/>
        </p:nvSpPr>
        <p:spPr>
          <a:xfrm>
            <a:off x="4068113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2" name="Shape 20"/>
          <p:cNvSpPr/>
          <p:nvPr/>
        </p:nvSpPr>
        <p:spPr>
          <a:xfrm>
            <a:off x="4772007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3" name="Shape 21"/>
          <p:cNvSpPr/>
          <p:nvPr/>
        </p:nvSpPr>
        <p:spPr>
          <a:xfrm>
            <a:off x="5475902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4" name="Shape 22"/>
          <p:cNvSpPr/>
          <p:nvPr/>
        </p:nvSpPr>
        <p:spPr>
          <a:xfrm>
            <a:off x="6179797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5" name="Shape 23"/>
          <p:cNvSpPr/>
          <p:nvPr/>
        </p:nvSpPr>
        <p:spPr>
          <a:xfrm>
            <a:off x="6883691" y="5303520"/>
            <a:ext cx="533253" cy="685800"/>
          </a:xfrm>
          <a:prstGeom prst="rect">
            <a:avLst/>
          </a:prstGeom>
          <a:solidFill>
            <a:srgbClr val="FF927E"/>
          </a:solidFill>
          <a:ln/>
        </p:spPr>
      </p:sp>
      <p:sp>
        <p:nvSpPr>
          <p:cNvPr id="26" name="Shape 24"/>
          <p:cNvSpPr/>
          <p:nvPr/>
        </p:nvSpPr>
        <p:spPr>
          <a:xfrm>
            <a:off x="7587586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7" name="Shape 25"/>
          <p:cNvSpPr/>
          <p:nvPr/>
        </p:nvSpPr>
        <p:spPr>
          <a:xfrm>
            <a:off x="8291480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8" name="Shape 26"/>
          <p:cNvSpPr/>
          <p:nvPr/>
        </p:nvSpPr>
        <p:spPr>
          <a:xfrm>
            <a:off x="8995375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29" name="Shape 27"/>
          <p:cNvSpPr/>
          <p:nvPr/>
        </p:nvSpPr>
        <p:spPr>
          <a:xfrm>
            <a:off x="9699269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03164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31" name="Shape 29"/>
          <p:cNvSpPr/>
          <p:nvPr/>
        </p:nvSpPr>
        <p:spPr>
          <a:xfrm>
            <a:off x="11107059" y="4846320"/>
            <a:ext cx="533253" cy="1143000"/>
          </a:xfrm>
          <a:prstGeom prst="rect">
            <a:avLst/>
          </a:prstGeom>
          <a:solidFill>
            <a:srgbClr val="C9DCDC"/>
          </a:solidFill>
          <a:ln/>
        </p:spPr>
      </p:sp>
      <p:sp>
        <p:nvSpPr>
          <p:cNvPr id="32" name="Shape 30"/>
          <p:cNvSpPr/>
          <p:nvPr/>
        </p:nvSpPr>
        <p:spPr>
          <a:xfrm>
            <a:off x="4677543" y="4736592"/>
            <a:ext cx="18288" cy="1362456"/>
          </a:xfrm>
          <a:prstGeom prst="rect">
            <a:avLst/>
          </a:prstGeom>
          <a:solidFill>
            <a:srgbClr val="66E8D5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E879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YAJ">
  <a:themeElements>
    <a:clrScheme name="SIYAJ">
      <a:dk1>
        <a:srgbClr val="081217"/>
      </a:dk1>
      <a:lt1>
        <a:srgbClr val="EAFFF8"/>
      </a:lt1>
      <a:dk2>
        <a:srgbClr val="10232B"/>
      </a:dk2>
      <a:lt2>
        <a:srgbClr val="F3F6F2"/>
      </a:lt2>
      <a:accent1>
        <a:srgbClr val="66E8D5"/>
      </a:accent1>
      <a:accent2>
        <a:srgbClr val="F2D49A"/>
      </a:accent2>
      <a:accent3>
        <a:srgbClr val="FF927E"/>
      </a:accent3>
      <a:accent4>
        <a:srgbClr val="23877A"/>
      </a:accent4>
      <a:accent5>
        <a:srgbClr val="132A30"/>
      </a:accent5>
      <a:accent6>
        <a:srgbClr val="A8BBC2"/>
      </a:accent6>
      <a:hlink>
        <a:srgbClr val="66E8D5"/>
      </a:hlink>
      <a:folHlink>
        <a:srgbClr val="A8BBC2"/>
      </a:folHlink>
    </a:clrScheme>
    <a:fontScheme name="SIYAJ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SIYAJ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SIYAJ Company Profile</dc:title>
  <dc:subject>PptxGenJS Presentation</dc:subject>
  <dc:creator>SIYAJ</dc:creator>
  <cp:lastModifiedBy>SIYAJ</cp:lastModifiedBy>
  <cp:revision>1</cp:revision>
  <dcterms:created xsi:type="dcterms:W3CDTF">2026-10-21T11:39:41Z</dcterms:created>
  <dcterms:modified xsi:type="dcterms:W3CDTF">2026-10-21T11:39:41Z</dcterms:modified>
</cp:coreProperties>
</file>