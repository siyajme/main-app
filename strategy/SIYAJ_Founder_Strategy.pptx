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rategy" id="{f38bf5fd-9511-219e-390e-30d1f8483d28}">
          <p14:sldIdLst>
            <p14:sldId id="256"/>
            <p14:sldId id="257"/>
          </p14:sldIdLst>
        </p14:section>
        <p14:section name="Diagnosis" id="{75f0afd4-c206-b519-f243-0306600d9bed}">
          <p14:sldIdLst>
            <p14:sldId id="258"/>
            <p14:sldId id="259"/>
          </p14:sldIdLst>
        </p14:section>
        <p14:section name="Choices" id="{02f32250-e331-ad9c-8f13-f4b726105d69}">
          <p14:sldIdLst>
            <p14:sldId id="260"/>
            <p14:sldId id="261"/>
            <p14:sldId id="262"/>
          </p14:sldIdLst>
        </p14:section>
        <p14:section name="Model" id="{44faa76f-28b9-2d9b-5aee-59a8ebadd68c}">
          <p14:sldIdLst>
            <p14:sldId id="263"/>
            <p14:sldId id="264"/>
            <p14:sldId id="265"/>
          </p14:sldIdLst>
        </p14:section>
        <p14:section name="Execution" id="{7e8373be-6409-c038-4a84-102e292879fa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S&amp;P Global Market Intelligence (Feb 2026) on AIG, W. R. Berkley and Great American seeking to exclude AI risk; market maps of AI liability capacity (2026) covering Armilla (Lloyd's coverholder, Chaucer-led, up to USD 25m per organisation), Testudo (Lloyd's-backed), AIUC, Munich Re aiSure, Counterpart.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DLA Piper MGA global insights (UAE has no onshore MGA regime; MGA-type operations via DIFC/DFSA and ADGM/FSRA); DFSA insurance supervision summary (underwriting agents and coverholders licensed for Insurance Management); DIFC insurance page (40+ MGAs, Category 4); Lloyd's UAE country profile (onshore UAE risks need a locally licensed insurer; Lloyd's may reinsure); Al Tamimi, 7 Apr 2026 (KSA IA approved Licensing Requirements for Underwriting Activities on 25 Mar 2026: KSA office, PI cover of at least SAR 3m, business plan; final regulation pending). Confirm with counsel before 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NTENT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5" name="Image 0" descr="/home/claude/build/brand3/_Mar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402336"/>
            <a:ext cx="310896" cy="27203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SIYAJ  ·  Founder strategy 2026–27  ·  Confidential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SIYAJ  ·  Founder strategy 2026–27  ·  Confidential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YAJ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194560" cy="6774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2026–2028 · CONFIDENTIAL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10512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underwriter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risk in the Gulf.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SIYAJ connects the companies deploying AI with insurance capacity that cannot yet evaluate them. This is how we earn the pen, stage by stage.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7" name="Shape 4"/>
          <p:cNvSpPr/>
          <p:nvPr/>
        </p:nvSpPr>
        <p:spPr>
          <a:xfrm>
            <a:off x="1252535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8" name="Shape 5"/>
          <p:cNvSpPr/>
          <p:nvPr/>
        </p:nvSpPr>
        <p:spPr>
          <a:xfrm>
            <a:off x="1956429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9" name="Shape 6"/>
          <p:cNvSpPr/>
          <p:nvPr/>
        </p:nvSpPr>
        <p:spPr>
          <a:xfrm>
            <a:off x="2660324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0" name="Shape 7"/>
          <p:cNvSpPr/>
          <p:nvPr/>
        </p:nvSpPr>
        <p:spPr>
          <a:xfrm>
            <a:off x="3364218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1" name="Shape 8"/>
          <p:cNvSpPr/>
          <p:nvPr/>
        </p:nvSpPr>
        <p:spPr>
          <a:xfrm>
            <a:off x="4068113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2" name="Shape 9"/>
          <p:cNvSpPr/>
          <p:nvPr/>
        </p:nvSpPr>
        <p:spPr>
          <a:xfrm>
            <a:off x="4772007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3" name="Shape 10"/>
          <p:cNvSpPr/>
          <p:nvPr/>
        </p:nvSpPr>
        <p:spPr>
          <a:xfrm>
            <a:off x="5475902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9797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5" name="Shape 12"/>
          <p:cNvSpPr/>
          <p:nvPr/>
        </p:nvSpPr>
        <p:spPr>
          <a:xfrm>
            <a:off x="6883691" y="5248656"/>
            <a:ext cx="533253" cy="740664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7586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7" name="Shape 14"/>
          <p:cNvSpPr/>
          <p:nvPr/>
        </p:nvSpPr>
        <p:spPr>
          <a:xfrm>
            <a:off x="8291480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8" name="Shape 15"/>
          <p:cNvSpPr/>
          <p:nvPr/>
        </p:nvSpPr>
        <p:spPr>
          <a:xfrm>
            <a:off x="8995375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9" name="Shape 16"/>
          <p:cNvSpPr/>
          <p:nvPr/>
        </p:nvSpPr>
        <p:spPr>
          <a:xfrm>
            <a:off x="9699269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03164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1" name="Shape 18"/>
          <p:cNvSpPr/>
          <p:nvPr/>
        </p:nvSpPr>
        <p:spPr>
          <a:xfrm>
            <a:off x="11107059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2" name="Shape 19"/>
          <p:cNvSpPr/>
          <p:nvPr/>
        </p:nvSpPr>
        <p:spPr>
          <a:xfrm>
            <a:off x="4677543" y="4645152"/>
            <a:ext cx="18288" cy="1453896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STRATEGY ON A PAGE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choices.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integrated strategy.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as Playing to Win: every later slide expands one of these rows.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SIYAJ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Winning aspiration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Become the Gulf's reference technical underwriter for AI risk: the party capacity providers trust to say accept, refer or decline.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play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vendors and deployers selling into regulated Gulf enterprises. Capacity from Lloyd's via DIFC, regional reinsurers and local fronting carriers. DIFC first, UAE onshore second, KSA third.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win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Underwrite on observed behaviour, not questionnaires. Let founding partners shape the box. Be Gulf-native: Arabic testing, regional rules, local paper.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technical test engine, licensed underwriting judgment on the team, capacity relationships and regulatory permissions.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systems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gates with kill criteria, a monthly underwriting committee with capacity partners, evidence and loss metrics reviewed every month.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DIAGNOSIS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coverage gap is real,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is widening.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are retreating from AI risk while specialists prove it can be underwritten. No one is doing it for the Gulf.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Carriers are writing AI out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AIG, W. R. Berkley and Great American have sought permission to exclude AI-related claims from standard corporate liability policies.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224028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show it can be written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Armilla writes up to USD 25m per organisation as a Lloyd's coverholder. Testudo, AIUC and Munich Re aiSure are also writing AI risk.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1584" y="224028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5904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it is built for the Gulf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specialists sit in London and North America. Gulf AI deployers still rely on generic wordings that are silent on AI.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0" name="Shape 17"/>
          <p:cNvSpPr/>
          <p:nvPr/>
        </p:nvSpPr>
        <p:spPr>
          <a:xfrm>
            <a:off x="1117904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1" name="Shape 18"/>
          <p:cNvSpPr/>
          <p:nvPr/>
        </p:nvSpPr>
        <p:spPr>
          <a:xfrm>
            <a:off x="1367129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2" name="Shape 19"/>
          <p:cNvSpPr/>
          <p:nvPr/>
        </p:nvSpPr>
        <p:spPr>
          <a:xfrm>
            <a:off x="1616353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3" name="Shape 20"/>
          <p:cNvSpPr/>
          <p:nvPr/>
        </p:nvSpPr>
        <p:spPr>
          <a:xfrm>
            <a:off x="1865578" y="565465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24" name="Shape 21"/>
          <p:cNvSpPr/>
          <p:nvPr/>
        </p:nvSpPr>
        <p:spPr>
          <a:xfrm>
            <a:off x="2114802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5" name="Shape 22"/>
          <p:cNvSpPr/>
          <p:nvPr/>
        </p:nvSpPr>
        <p:spPr>
          <a:xfrm>
            <a:off x="2364027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6" name="Shape 23"/>
          <p:cNvSpPr/>
          <p:nvPr/>
        </p:nvSpPr>
        <p:spPr>
          <a:xfrm>
            <a:off x="2613251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7" name="Shape 24"/>
          <p:cNvSpPr/>
          <p:nvPr/>
        </p:nvSpPr>
        <p:spPr>
          <a:xfrm>
            <a:off x="2862476" y="565465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28" name="Shape 25"/>
          <p:cNvSpPr/>
          <p:nvPr/>
        </p:nvSpPr>
        <p:spPr>
          <a:xfrm>
            <a:off x="3111700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9" name="Shape 26"/>
          <p:cNvSpPr/>
          <p:nvPr/>
        </p:nvSpPr>
        <p:spPr>
          <a:xfrm>
            <a:off x="3360925" y="5413248"/>
            <a:ext cx="184611" cy="603504"/>
          </a:xfrm>
          <a:prstGeom prst="rect">
            <a:avLst/>
          </a:prstGeom>
          <a:solidFill>
            <a:srgbClr val="26241C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10149" y="54132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206240" y="5321808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window: demand is visible, specialist capacity exists, and the Gulf has no local technical underwriter yet.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CRUX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Carriers will not write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cannot measure.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sides are blocked by the same missing capability: credible technical evaluation of AI behaviour.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stall on liability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buyers ask who pays when the AI is wrong.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affirmative cover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wordings are silent or excluding.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friction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questionnaires with no evidence to attach.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2240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66E8D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0288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E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8346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6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evaluation of how AI behaves.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4160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Whoever owns the evaluation owns the flow of submissions, the trust of capacity and, eventually, the pen.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83296" y="2240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7616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CARRIERS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83464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in-house AI evaluation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Underwriters cannot test agents themselves.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loss fear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failure could trigger many claims.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loss history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needs evidence that does not exist yet.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GUIDING POLICY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evaluation.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the pen in stages.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that decide what we do, and what we refuse to do, at every stage.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58568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788920"/>
            <a:ext cx="3483864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971800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before capacity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3483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 partners for capacity only once we can show tested, scored submissions they can audit.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2544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25856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52544" y="2788920"/>
            <a:ext cx="3483864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352544" y="2971800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352544" y="3291840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before scale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352544" y="3931920"/>
            <a:ext cx="3483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distribution push until a partner has co-designed the box and agreed the line.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56448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258568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56448" y="2788920"/>
            <a:ext cx="3483864" cy="27432"/>
          </a:xfrm>
          <a:prstGeom prst="rect">
            <a:avLst/>
          </a:prstGeom>
          <a:solidFill>
            <a:srgbClr val="F2D49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156448" y="2971800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3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156448" y="3291840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before global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3931920"/>
            <a:ext cx="3483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where local paper, Arabic systems and regional regulators make us the obvious choice.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68680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5" name="Shape 20"/>
          <p:cNvSpPr/>
          <p:nvPr/>
        </p:nvSpPr>
        <p:spPr>
          <a:xfrm>
            <a:off x="1117904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6" name="Shape 21"/>
          <p:cNvSpPr/>
          <p:nvPr/>
        </p:nvSpPr>
        <p:spPr>
          <a:xfrm>
            <a:off x="1367129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7" name="Shape 22"/>
          <p:cNvSpPr/>
          <p:nvPr/>
        </p:nvSpPr>
        <p:spPr>
          <a:xfrm>
            <a:off x="1616353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8" name="Shape 23"/>
          <p:cNvSpPr/>
          <p:nvPr/>
        </p:nvSpPr>
        <p:spPr>
          <a:xfrm>
            <a:off x="1865578" y="556321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29" name="Shape 24"/>
          <p:cNvSpPr/>
          <p:nvPr/>
        </p:nvSpPr>
        <p:spPr>
          <a:xfrm>
            <a:off x="2114802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0" name="Shape 25"/>
          <p:cNvSpPr/>
          <p:nvPr/>
        </p:nvSpPr>
        <p:spPr>
          <a:xfrm>
            <a:off x="2364027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1" name="Shape 26"/>
          <p:cNvSpPr/>
          <p:nvPr/>
        </p:nvSpPr>
        <p:spPr>
          <a:xfrm>
            <a:off x="2613251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2" name="Shape 27"/>
          <p:cNvSpPr/>
          <p:nvPr/>
        </p:nvSpPr>
        <p:spPr>
          <a:xfrm>
            <a:off x="2862476" y="556321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33" name="Shape 28"/>
          <p:cNvSpPr/>
          <p:nvPr/>
        </p:nvSpPr>
        <p:spPr>
          <a:xfrm>
            <a:off x="3111700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4" name="Shape 29"/>
          <p:cNvSpPr/>
          <p:nvPr/>
        </p:nvSpPr>
        <p:spPr>
          <a:xfrm>
            <a:off x="3360925" y="5321808"/>
            <a:ext cx="184611" cy="603504"/>
          </a:xfrm>
          <a:prstGeom prst="rect">
            <a:avLst/>
          </a:prstGeom>
          <a:solidFill>
            <a:srgbClr val="26241C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610149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4206240" y="5230368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must improve the evidence, deepen the capacity, or secure the permission. If it does none, we do not do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WHERE TO PLAY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on purpose.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no is the strategy.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 for the first 24 months. Each "no" protects loss experience or regulatory standing.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22392" cy="3794760"/>
          </a:xfrm>
          <a:prstGeom prst="roundRect">
            <a:avLst>
              <a:gd name="adj" fmla="val 2410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529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8529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vendors and deployers with regulated Gulf buyers: fintech, insurtech, real-estate tech, enterprise SaaS, gov-tech suppliers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4930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493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errors, agent actions beyond authority, AI data exposure, regulatory defence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02336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4133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1–2m delegated, up to USD 5m on referral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66344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7731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773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Lloyd's via DIFC coverholders, regional reinsurers, local fronting carriers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530352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413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5413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brokers for placement; direct for assessments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194560"/>
            <a:ext cx="5422392" cy="3794760"/>
          </a:xfrm>
          <a:prstGeom prst="roundRect">
            <a:avLst>
              <a:gd name="adj" fmla="val 2410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PLAY (YET)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74320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28529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labs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28529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developers with systemic, uncapped exposure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338328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34930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autonomy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3493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vehicles, robotics, medical devices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402336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4133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and treatment decisions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466344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47731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bots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4773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financial trading and crypto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5303520"/>
            <a:ext cx="4782312" cy="10973"/>
          </a:xfrm>
          <a:prstGeom prst="rect">
            <a:avLst/>
          </a:prstGeom>
          <a:solidFill>
            <a:srgbClr val="24414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5413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lines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5413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products and generic cyber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HOW TO WIN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advantages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compound.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hard to copy alone. Together they make SIYAJ the default technical partner for AI risk in the region.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1468" cy="329184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2582997"/>
            <a:ext cx="247254" cy="247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DON'T ASK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on observed behaviour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16552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probes, 5 weighted factors and 10 box rules. Every number traces to evidence.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194560"/>
            <a:ext cx="2601468" cy="329184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3028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45" y="2582997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3028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SHAPE THE BOX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653028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Co-designed appetite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53028" y="4416552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capacity partners set limits and thresholds, creating trust, shared data and switching costs.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08776" y="2194560"/>
            <a:ext cx="2601468" cy="329184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83096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13" y="2582997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83096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GULF-NATIVE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83096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paper, local language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83096" y="4416552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and English testing, regional rule mapping and fronting relationships global specialists lack.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38844" y="2194560"/>
            <a:ext cx="2601468" cy="329184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5A4A2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3164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281" y="2582997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13164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RISK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313164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retesting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313164" y="4416552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Retests after model or tool change turn a one-off policy into monitored risk and loss control.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F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over time: every tested submission adds to a Gulf-specific failure library and, later, loss experience no newcomer has.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BUSINESS MODEL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engines,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 in order.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funds and de-risks the next. We never skip a licence to reach revenue faster.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2971800"/>
                <a:gridCol w="217627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 EARN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Technical underwriting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 assessments for AI companies; technical reviews of submissions for carriers and brokers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 fees (AED 30–95k); per-submission review fees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services; confirm KSA classification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Programme on partner paper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Underwrite to a co-designed box through a licensed host or partner MGA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underwriting commission; assessment and retesting fees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Partner's licence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Licensed underwriting 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Delegated authority in DIFC and, later, KSA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on premium, profit commission, monitoring 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DFSA Insurance Management; KSA underwriting licence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and profit-commission terms are negotiated with each capacity partner. All figures are planning assumptions.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ECONOMICS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to prove.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revenue to SIYAJ from commission at Stage 3, before expenses. Stage 1 must fund itself first.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WRITTEN PREMIUM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 COMMISSION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COMMISSION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 COMMISSION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2m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0.30m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0.40m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0.50m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0.75m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1.00m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1.25m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1.50m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2.00m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2.50m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58952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2402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assessments in year 1 at AED 30–60k fund the build before premium flows (AED 0.45–0.9m)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3520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submission is the unit of value: it earns a fee now and becomes premium later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4800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loss ratio partners need to see before they widen the line (assumption to validate)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006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F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commission aligns SIYAJ with loss experience: we earn more only when the evidence proves right.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THE FOUNDING BOX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draft box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take to partners.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starting position for co-design, not a final appetite. Encoded in the workbench today.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78231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Banking, insurance, technology, retail, real estate, HR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Buyers demand cover; failure modes are testable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Territories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UAE, KSA, DIFC, ADGM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paper and regulators we can reach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2m delegated; refer to USD 5m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 tail risk while loss data builds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human-approved actions; autonomous refers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actions are the hardest risk to bound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SIYAJ test required; at least 80% scored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evidence, no 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 above 35; decline above 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Hypothesis: tested failure predicts claims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Identity, human approval, logging, kill switch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for containment and investigation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most 40% of limit per model provider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model failure must not sink the book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PRODUCT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underwriting workbench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already built.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MVP with 10 passing engine tests. Analysis for licensed partners; no quotes or binding.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01184" y="2112264"/>
            <a:ext cx="6748272" cy="4245102"/>
          </a:xfrm>
          <a:prstGeom prst="roundRect">
            <a:avLst>
              <a:gd name="adj" fmla="val 1292"/>
            </a:avLst>
          </a:prstGeom>
          <a:solidFill>
            <a:srgbClr val="244149"/>
          </a:solidFill>
          <a:ln/>
        </p:spPr>
      </p:sp>
      <p:pic>
        <p:nvPicPr>
          <p:cNvPr id="6" name="Image 0" descr="SIYAJ produc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148840"/>
            <a:ext cx="6675120" cy="41719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148840"/>
            <a:ext cx="54864" cy="1143000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intake, 5-factor technical score, 10 box rules with reasons, conditions, re-scoring on box change, concentration view, evidence fingerprint.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54864" cy="1143000"/>
          </a:xfrm>
          <a:prstGeom prst="rect">
            <a:avLst/>
          </a:prstGeom>
          <a:solidFill>
            <a:srgbClr val="F2D4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86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test execution, partner portal, bordereaux export, retest scheduler, signed reports.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54864" cy="1143000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4892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257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Quotes, premiums or binding until licensed.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REGULATORY PATH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licence path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part of the strategy.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authority is regulated in every Gulf market. Sequencing permissions is a strategic choice.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930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agents and coverholders are licensed by the DFSA for Insurance Management. 40+ MGAs already operate there, with Lloyd's access.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ONSHORE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Fronting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4930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onshore MGA regime. Onshore risks are written by a locally licensed insurer, with international capacity behind it as reinsurance.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5904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ARABIA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KSA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4930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Insurance Authority approved licensing requirements for underwriting activities in March 2026: local office, PI cover, business plan.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2A1C1B"/>
          </a:solidFill>
          <a:ln w="9525">
            <a:solidFill>
              <a:srgbClr val="5A35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2578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licensed:  </a:t>
            </a:r>
            <a:pPr indent="0" marL="0">
              <a:buNone/>
            </a:pPr>
            <a:r>
              <a:rPr lang="en-US" sz="15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services only. No solicitation, quoting, binding, premium indication or insurance advice.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GO TO MARKET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first.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 parallel.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two-sided market starts with supply. Brokers connect the two sides.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22392" cy="3017520"/>
          </a:xfrm>
          <a:prstGeom prst="roundRect">
            <a:avLst>
              <a:gd name="adj" fmla="val 3030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TRACK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8163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conversations: Lloyd's syndicates writing AI, regional reinsurers, fronting carriers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5935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workshops at underwriting level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3708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partner with a capacity term sheet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422392" cy="3017520"/>
          </a:xfrm>
          <a:prstGeom prst="roundRect">
            <a:avLst>
              <a:gd name="adj" fmla="val 3030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TRACK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8163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companies with stalled enterprise deals, conflict-screened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5935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readiness assessments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43708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submissions ready for the partner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7904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4" name="Shape 22"/>
          <p:cNvSpPr/>
          <p:nvPr/>
        </p:nvSpPr>
        <p:spPr>
          <a:xfrm>
            <a:off x="1367129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5" name="Shape 23"/>
          <p:cNvSpPr/>
          <p:nvPr/>
        </p:nvSpPr>
        <p:spPr>
          <a:xfrm>
            <a:off x="1616353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6" name="Shape 24"/>
          <p:cNvSpPr/>
          <p:nvPr/>
        </p:nvSpPr>
        <p:spPr>
          <a:xfrm>
            <a:off x="1865578" y="588325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27" name="Shape 25"/>
          <p:cNvSpPr/>
          <p:nvPr/>
        </p:nvSpPr>
        <p:spPr>
          <a:xfrm>
            <a:off x="2114802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8" name="Shape 26"/>
          <p:cNvSpPr/>
          <p:nvPr/>
        </p:nvSpPr>
        <p:spPr>
          <a:xfrm>
            <a:off x="2364027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9" name="Shape 27"/>
          <p:cNvSpPr/>
          <p:nvPr/>
        </p:nvSpPr>
        <p:spPr>
          <a:xfrm>
            <a:off x="2613251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0" name="Shape 28"/>
          <p:cNvSpPr/>
          <p:nvPr/>
        </p:nvSpPr>
        <p:spPr>
          <a:xfrm>
            <a:off x="2862476" y="588325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31" name="Shape 29"/>
          <p:cNvSpPr/>
          <p:nvPr/>
        </p:nvSpPr>
        <p:spPr>
          <a:xfrm>
            <a:off x="3111700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2" name="Shape 30"/>
          <p:cNvSpPr/>
          <p:nvPr/>
        </p:nvSpPr>
        <p:spPr>
          <a:xfrm>
            <a:off x="3360925" y="5641848"/>
            <a:ext cx="184611" cy="603504"/>
          </a:xfrm>
          <a:prstGeom prst="rect">
            <a:avLst/>
          </a:prstGeom>
          <a:solidFill>
            <a:srgbClr val="26241C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0149" y="564184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06240" y="5550408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 are the bridge: two regional broker alliances bring AI clients to the box and place the cover.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ROADMAP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can stop us.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spend more only when the previous gate is passed. Kill criteria are written now, not later.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788152"/>
                <a:gridCol w="393192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TO PROCEED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 employer clearance; entity and brand cleared; insurance co-founder recruited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clearance or no co-founder: stop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paid assessments; draft box; 3 capacity conversations at underwriting 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partner agrees to co-design the 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Box v1 agreed; licensed host selected; DFSA application started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 capacity term sheet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policies bound on partner paper; retesting live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Referral and loss metrics within partner limits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B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DFSA Insurance Management licence; KSA underwriting application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target met and partner renews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TEAM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gap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first risk to close.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providers back underwriters, not platforms. A licensed underwriter on the founding team is non-negotiable.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1468" cy="338328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2582997"/>
            <a:ext cx="247254" cy="247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and governance depth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16552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brings AI security, cyber strategy and AI governance expertise, plus the working test engine.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194560"/>
            <a:ext cx="2601468" cy="338328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5A4A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3028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45" y="2582997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3028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FIRST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653028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underwriter, co-founder level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53028" y="4416552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with capacity and the experience regulators expect of authorised individuals.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08776" y="2194560"/>
            <a:ext cx="2601468" cy="338328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83096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13" y="2582997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83096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FOR LICENCE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83096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risk officer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83096" y="4416552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 a DFSA licence; owns conduct, reporting and partner audits.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38844" y="2194560"/>
            <a:ext cx="2601468" cy="338328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3164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281" y="2582997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13164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313164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Actuarial and reinsurance advisers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313164" y="4416552"/>
            <a:ext cx="205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relativities, aggregation modelling and introductions to capacity.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MANAGEMENT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know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working.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north star, a few leading indicators, and governance shared with capacity partners.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58568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788920"/>
            <a:ext cx="3483864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971800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bound within the box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3483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written premium on partner paper that passed the box without exception.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2544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25856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52544" y="2788920"/>
            <a:ext cx="3483864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352544" y="2971800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352544" y="3291840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and quality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352544" y="3931920"/>
            <a:ext cx="3483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submissions per month, days from submission to decision, share referred, partner acceptance of referrals.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56448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258568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56448" y="2788920"/>
            <a:ext cx="3483864" cy="27432"/>
          </a:xfrm>
          <a:prstGeom prst="rect">
            <a:avLst/>
          </a:prstGeom>
          <a:solidFill>
            <a:srgbClr val="F2D49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156448" y="2971800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LAGGING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156448" y="3291840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the evidence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3931920"/>
            <a:ext cx="3483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ratio against plan, renewal retention, drift caught by retesting before a claim.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68680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5" name="Shape 20"/>
          <p:cNvSpPr/>
          <p:nvPr/>
        </p:nvSpPr>
        <p:spPr>
          <a:xfrm>
            <a:off x="1117904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6" name="Shape 21"/>
          <p:cNvSpPr/>
          <p:nvPr/>
        </p:nvSpPr>
        <p:spPr>
          <a:xfrm>
            <a:off x="1367129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7" name="Shape 22"/>
          <p:cNvSpPr/>
          <p:nvPr/>
        </p:nvSpPr>
        <p:spPr>
          <a:xfrm>
            <a:off x="1616353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8" name="Shape 23"/>
          <p:cNvSpPr/>
          <p:nvPr/>
        </p:nvSpPr>
        <p:spPr>
          <a:xfrm>
            <a:off x="1865578" y="556321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29" name="Shape 24"/>
          <p:cNvSpPr/>
          <p:nvPr/>
        </p:nvSpPr>
        <p:spPr>
          <a:xfrm>
            <a:off x="2114802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0" name="Shape 25"/>
          <p:cNvSpPr/>
          <p:nvPr/>
        </p:nvSpPr>
        <p:spPr>
          <a:xfrm>
            <a:off x="2364027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1" name="Shape 26"/>
          <p:cNvSpPr/>
          <p:nvPr/>
        </p:nvSpPr>
        <p:spPr>
          <a:xfrm>
            <a:off x="2613251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2" name="Shape 27"/>
          <p:cNvSpPr/>
          <p:nvPr/>
        </p:nvSpPr>
        <p:spPr>
          <a:xfrm>
            <a:off x="2862476" y="556321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33" name="Shape 28"/>
          <p:cNvSpPr/>
          <p:nvPr/>
        </p:nvSpPr>
        <p:spPr>
          <a:xfrm>
            <a:off x="3111700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4" name="Shape 29"/>
          <p:cNvSpPr/>
          <p:nvPr/>
        </p:nvSpPr>
        <p:spPr>
          <a:xfrm>
            <a:off x="3360925" y="5321808"/>
            <a:ext cx="184611" cy="603504"/>
          </a:xfrm>
          <a:prstGeom prst="rect">
            <a:avLst/>
          </a:prstGeom>
          <a:solidFill>
            <a:srgbClr val="26241C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610149" y="532180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4206240" y="5230368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monthly underwriting committee with each capacity partner, quarterly box review, annual independent model validation.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RISKS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break this,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we do about it.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50" kern="0" dirty="0">
                          <a:solidFill>
                            <a:srgbClr val="66E8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Correlated loss from one model provider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Aggregation caps per provider, exclusions for frontier labs, reinsurance behind partner paper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Adverse selection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Test-required box; retesting after material change; conditions before binding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loss history to price from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lines, profit commission alignment, shared data with partners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classification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Licensed partner first; written counsel opinions in each market before activity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withdraws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capacity partners before Stage 3; portable box and evidence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specialists enter the Gulf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SIYAJ as their local technical partner rather than compete head-on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F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conflict of interest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FF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zero: written employer clearance before any commercial step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2B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· NEXT 90 DAYS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moves.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order.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47872" cy="2743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the founder gate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employer clearance, then recruit the underwriting co-founder.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2103120"/>
            <a:ext cx="3547872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25112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25112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capacity track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325112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workshops with three capacity providers at underwriting level.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2103120"/>
            <a:ext cx="3547872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01584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evidence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01584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paid readiness assessments with conflict-screened AI companies.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52535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8" name="Shape 16"/>
          <p:cNvSpPr/>
          <p:nvPr/>
        </p:nvSpPr>
        <p:spPr>
          <a:xfrm>
            <a:off x="1956429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9" name="Shape 17"/>
          <p:cNvSpPr/>
          <p:nvPr/>
        </p:nvSpPr>
        <p:spPr>
          <a:xfrm>
            <a:off x="2660324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0" name="Shape 18"/>
          <p:cNvSpPr/>
          <p:nvPr/>
        </p:nvSpPr>
        <p:spPr>
          <a:xfrm>
            <a:off x="3364218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1" name="Shape 19"/>
          <p:cNvSpPr/>
          <p:nvPr/>
        </p:nvSpPr>
        <p:spPr>
          <a:xfrm>
            <a:off x="4068113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2" name="Shape 20"/>
          <p:cNvSpPr/>
          <p:nvPr/>
        </p:nvSpPr>
        <p:spPr>
          <a:xfrm>
            <a:off x="4772007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3" name="Shape 21"/>
          <p:cNvSpPr/>
          <p:nvPr/>
        </p:nvSpPr>
        <p:spPr>
          <a:xfrm>
            <a:off x="5475902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9797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83691" y="5303520"/>
            <a:ext cx="533253" cy="685800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7586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7" name="Shape 25"/>
          <p:cNvSpPr/>
          <p:nvPr/>
        </p:nvSpPr>
        <p:spPr>
          <a:xfrm>
            <a:off x="8291480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8" name="Shape 26"/>
          <p:cNvSpPr/>
          <p:nvPr/>
        </p:nvSpPr>
        <p:spPr>
          <a:xfrm>
            <a:off x="8995375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9" name="Shape 27"/>
          <p:cNvSpPr/>
          <p:nvPr/>
        </p:nvSpPr>
        <p:spPr>
          <a:xfrm>
            <a:off x="9699269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03164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07059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2" name="Shape 30"/>
          <p:cNvSpPr/>
          <p:nvPr/>
        </p:nvSpPr>
        <p:spPr>
          <a:xfrm>
            <a:off x="4677543" y="4736592"/>
            <a:ext cx="18288" cy="1362456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YAJ">
  <a:themeElements>
    <a:clrScheme name="SIYAJ">
      <a:dk1>
        <a:srgbClr val="081217"/>
      </a:dk1>
      <a:lt1>
        <a:srgbClr val="EAFFF8"/>
      </a:lt1>
      <a:dk2>
        <a:srgbClr val="10232B"/>
      </a:dk2>
      <a:lt2>
        <a:srgbClr val="F3F6F2"/>
      </a:lt2>
      <a:accent1>
        <a:srgbClr val="66E8D5"/>
      </a:accent1>
      <a:accent2>
        <a:srgbClr val="F2D49A"/>
      </a:accent2>
      <a:accent3>
        <a:srgbClr val="FF927E"/>
      </a:accent3>
      <a:accent4>
        <a:srgbClr val="23877A"/>
      </a:accent4>
      <a:accent5>
        <a:srgbClr val="132A30"/>
      </a:accent5>
      <a:accent6>
        <a:srgbClr val="A8BBC2"/>
      </a:accent6>
      <a:hlink>
        <a:srgbClr val="66E8D5"/>
      </a:hlink>
      <a:folHlink>
        <a:srgbClr val="A8BBC2"/>
      </a:folHlink>
    </a:clrScheme>
    <a:fontScheme name="SIYAJ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SIYAJ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SIYAJ Founder Strategy</dc:title>
  <dc:subject>PptxGenJS Presentation</dc:subject>
  <dc:creator>SIYAJ</dc:creator>
  <cp:lastModifiedBy>SIYAJ</cp:lastModifiedBy>
  <cp:revision>1</cp:revision>
  <dcterms:created xsi:type="dcterms:W3CDTF">2026-10-21T11:39:40Z</dcterms:created>
  <dcterms:modified xsi:type="dcterms:W3CDTF">2026-10-21T11:39:40Z</dcterms:modified>
</cp:coreProperties>
</file>